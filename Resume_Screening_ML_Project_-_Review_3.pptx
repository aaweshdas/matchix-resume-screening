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97" r:id="rId4"/>
    <p:sldId id="298" r:id="rId5"/>
    <p:sldId id="299" r:id="rId6"/>
    <p:sldId id="300" r:id="rId7"/>
    <p:sldId id="301" r:id="rId8"/>
    <p:sldId id="302" r:id="rId9"/>
    <p:sldId id="306" r:id="rId10"/>
    <p:sldId id="307" r:id="rId11"/>
    <p:sldId id="308" r:id="rId12"/>
    <p:sldId id="303" r:id="rId13"/>
    <p:sldId id="304" r:id="rId14"/>
    <p:sldId id="294" r:id="rId15"/>
    <p:sldId id="269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719"/>
    <a:srgbClr val="BFBF37"/>
    <a:srgbClr val="008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4379" autoAdjust="0"/>
  </p:normalViewPr>
  <p:slideViewPr>
    <p:cSldViewPr>
      <p:cViewPr varScale="1">
        <p:scale>
          <a:sx n="69" d="100"/>
          <a:sy n="69" d="100"/>
        </p:scale>
        <p:origin x="1954" y="6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6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solidFill>
                  <a:srgbClr val="5857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Project</a:t>
            </a:r>
            <a:br>
              <a:rPr lang="en-IN" sz="2200" spc="-10" dirty="0">
                <a:solidFill>
                  <a:srgbClr val="5857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solidFill>
                  <a:srgbClr val="5857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3</a:t>
            </a:r>
            <a:endParaRPr sz="2200" spc="-10" dirty="0">
              <a:solidFill>
                <a:srgbClr val="5857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490506" cy="47025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dirty="0"/>
              <a:t>RESUME SCREENING AND CANDIDATE CLASSIFICATION USING MACHINE LEARNING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/>
              <a:t>                      		</a:t>
            </a:r>
            <a:r>
              <a:rPr lang="en-IN" sz="2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Aawesh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Das 		</a:t>
            </a:r>
            <a:r>
              <a:rPr lang="en-IN" sz="2400" dirty="0"/>
              <a:t>(24B11CS001)</a:t>
            </a:r>
          </a:p>
          <a:p>
            <a:pPr algn="l"/>
            <a:r>
              <a:rPr lang="en-IN" sz="2400" dirty="0"/>
              <a:t>			Bigal Dahal 			(24B11CS165)</a:t>
            </a:r>
          </a:p>
          <a:p>
            <a:pPr algn="l"/>
            <a:r>
              <a:rPr lang="en-IN" sz="2400" dirty="0"/>
              <a:t>			K. Madhu Kiran		(24B11CS182)</a:t>
            </a:r>
          </a:p>
          <a:p>
            <a:pPr algn="l"/>
            <a:endParaRPr lang="en-IN" sz="2400" dirty="0"/>
          </a:p>
          <a:p>
            <a:pPr algn="l"/>
            <a:endParaRPr lang="en-IN"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</a:p>
          <a:p>
            <a:pPr marL="1270" algn="ctr">
              <a:spcBef>
                <a:spcPts val="994"/>
              </a:spcBef>
            </a:pPr>
            <a:endParaRPr lang="en-IN" sz="2200" spc="-1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sp>
        <p:nvSpPr>
          <p:cNvPr id="101" name="TextBox 101"/>
          <p:cNvSpPr txBox="1"/>
          <p:nvPr/>
        </p:nvSpPr>
        <p:spPr>
          <a:xfrm>
            <a:off x="666750" y="1500000"/>
            <a:ext cx="8724900" cy="5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0"/>
              </a:spcBef>
              <a:buFont typeface="Arial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MATCHIX  is a Machine Learning and NLP platform that screens resumes, classifies candidates, and matches them to job descriptions.</a:t>
            </a:r>
          </a:p>
          <a:p>
            <a:pPr marL="342900" indent="-342900">
              <a:spcBef>
                <a:spcPts val="2400"/>
              </a:spcBef>
              <a:buFont typeface="Arial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We have built the full system: a dual-branch matching engine, a three-model benchmark, and a working web application.</a:t>
            </a:r>
          </a:p>
          <a:p>
            <a:pPr marL="342900" indent="-342900">
              <a:spcBef>
                <a:spcPts val="2400"/>
              </a:spcBef>
              <a:buFont typeface="Arial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For every candidate, recruiters get a fit score and a skill-gap report in seconds instead of hours of manual review.</a:t>
            </a:r>
          </a:p>
          <a:p>
            <a:pPr marL="342900" indent="-342900">
              <a:spcBef>
                <a:spcPts val="2400"/>
              </a:spcBef>
              <a:buFont typeface="Arial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It selects a candidate from multiple resumes provided according to the specification provided by the recruiter.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666750" y="1500000"/>
            <a:ext cx="8724900" cy="5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0"/>
              </a:spcBef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Every resume is scored in two ways, and the results are blended into one score.</a:t>
            </a:r>
          </a:p>
          <a:p>
            <a:pPr marL="342900" indent="-342900">
              <a:spcBef>
                <a:spcPts val="18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Branch 1: Skill Matching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Finds skills using a 73-skill lexicon. Must-have skills count 75% and nice-to-have skills 25%.</a:t>
            </a:r>
          </a:p>
          <a:p>
            <a:pPr marL="342900" indent="-342900">
              <a:spcBef>
                <a:spcPts val="18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Branch 2: Text Similarity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Turns resume and job text into TF-IDF vectors and compares them with cosine similarity.</a:t>
            </a:r>
          </a:p>
          <a:p>
            <a:pPr marL="342900" indent="-342900">
              <a:spcBef>
                <a:spcPts val="18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Matching Engine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Overall Score = 55% Skill Score + 45% Text Score, along with a skill-gap report.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sp>
        <p:nvSpPr>
          <p:cNvPr id="101" name="TextBox 101"/>
          <p:cNvSpPr txBox="1"/>
          <p:nvPr/>
        </p:nvSpPr>
        <p:spPr>
          <a:xfrm>
            <a:off x="600000" y="1480000"/>
            <a:ext cx="88584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6600"/>
                </a:solidFill>
                <a:latin typeface="Calibri"/>
                <a:cs typeface="Calibri"/>
              </a:rPr>
              <a:t>MATCHIX v3.0: Dual-Branch Pipeline</a:t>
            </a:r>
          </a:p>
        </p:txBody>
      </p:sp>
      <p:sp>
        <p:nvSpPr>
          <p:cNvPr id="102" name="Box 102"/>
          <p:cNvSpPr/>
          <p:nvPr/>
        </p:nvSpPr>
        <p:spPr>
          <a:xfrm>
            <a:off x="600000" y="2200000"/>
            <a:ext cx="1550000" cy="180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FF6600"/>
            </a:solidFill>
          </a:ln>
        </p:spPr>
        <p:txBody>
          <a:bodyPr wrap="square" lIns="70000" tIns="90000" rIns="70000" bIns="6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A1A1A"/>
                </a:solidFill>
                <a:latin typeface="Calibri"/>
                <a:cs typeface="Calibri"/>
              </a:rPr>
              <a:t>Resume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PDF, DOCX or TXT</a:t>
            </a:r>
          </a:p>
        </p:txBody>
      </p:sp>
      <p:sp>
        <p:nvSpPr>
          <p:cNvPr id="103" name="Box 103"/>
          <p:cNvSpPr/>
          <p:nvPr/>
        </p:nvSpPr>
        <p:spPr>
          <a:xfrm>
            <a:off x="600000" y="4200000"/>
            <a:ext cx="1550000" cy="180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FF6600"/>
            </a:solidFill>
          </a:ln>
        </p:spPr>
        <p:txBody>
          <a:bodyPr wrap="square" lIns="70000" tIns="90000" rIns="70000" bIns="6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A1A1A"/>
                </a:solidFill>
                <a:latin typeface="Calibri"/>
                <a:cs typeface="Calibri"/>
              </a:rPr>
              <a:t>Job Description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Benchmark, custom or uploaded</a:t>
            </a:r>
          </a:p>
        </p:txBody>
      </p:sp>
      <p:sp>
        <p:nvSpPr>
          <p:cNvPr id="104" name="Box 104"/>
          <p:cNvSpPr/>
          <p:nvPr/>
        </p:nvSpPr>
        <p:spPr>
          <a:xfrm>
            <a:off x="2427100" y="2200000"/>
            <a:ext cx="1550000" cy="380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txBody>
          <a:bodyPr wrap="square" lIns="70000" tIns="90000" rIns="70000" bIns="6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A1A1A"/>
                </a:solidFill>
                <a:latin typeface="Calibri"/>
                <a:cs typeface="Calibri"/>
              </a:rPr>
              <a:t>NLP Preprocessing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Clean text, lowercase, remove stop-words</a:t>
            </a:r>
          </a:p>
        </p:txBody>
      </p:sp>
      <p:sp>
        <p:nvSpPr>
          <p:cNvPr id="105" name="Box 105"/>
          <p:cNvSpPr/>
          <p:nvPr/>
        </p:nvSpPr>
        <p:spPr>
          <a:xfrm>
            <a:off x="4254200" y="2200000"/>
            <a:ext cx="1550000" cy="180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FF6600"/>
            </a:solidFill>
          </a:ln>
        </p:spPr>
        <p:txBody>
          <a:bodyPr wrap="square" lIns="70000" tIns="90000" rIns="70000" bIns="6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A1A1A"/>
                </a:solidFill>
                <a:latin typeface="Calibri"/>
                <a:cs typeface="Calibri"/>
              </a:rPr>
              <a:t>Skill Extraction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73-skill lexicon, must-have vs nice-to-have</a:t>
            </a:r>
          </a:p>
        </p:txBody>
      </p:sp>
      <p:sp>
        <p:nvSpPr>
          <p:cNvPr id="106" name="Box 106"/>
          <p:cNvSpPr/>
          <p:nvPr/>
        </p:nvSpPr>
        <p:spPr>
          <a:xfrm>
            <a:off x="4254200" y="4200000"/>
            <a:ext cx="1550000" cy="180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txBody>
          <a:bodyPr wrap="square" lIns="70000" tIns="90000" rIns="70000" bIns="6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A1A1A"/>
                </a:solidFill>
                <a:latin typeface="Calibri"/>
                <a:cs typeface="Calibri"/>
              </a:rPr>
              <a:t>Text Embedding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TF-IDF vectors, 10,000 features</a:t>
            </a:r>
          </a:p>
        </p:txBody>
      </p:sp>
      <p:sp>
        <p:nvSpPr>
          <p:cNvPr id="107" name="Box 107"/>
          <p:cNvSpPr/>
          <p:nvPr/>
        </p:nvSpPr>
        <p:spPr>
          <a:xfrm>
            <a:off x="6081300" y="2200000"/>
            <a:ext cx="1550000" cy="380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FF6600"/>
            </a:solidFill>
          </a:ln>
        </p:spPr>
        <p:txBody>
          <a:bodyPr wrap="square" lIns="70000" tIns="90000" rIns="70000" bIns="6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A1A1A"/>
                </a:solidFill>
                <a:latin typeface="Calibri"/>
                <a:cs typeface="Calibri"/>
              </a:rPr>
              <a:t>Matching Engine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Blends 55% skill score with 45% text score</a:t>
            </a:r>
          </a:p>
        </p:txBody>
      </p:sp>
      <p:sp>
        <p:nvSpPr>
          <p:cNvPr id="108" name="Box 108"/>
          <p:cNvSpPr/>
          <p:nvPr/>
        </p:nvSpPr>
        <p:spPr>
          <a:xfrm>
            <a:off x="7908400" y="2200000"/>
            <a:ext cx="1550000" cy="180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txBody>
          <a:bodyPr wrap="square" lIns="70000" tIns="90000" rIns="70000" bIns="6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A1A1A"/>
                </a:solidFill>
                <a:latin typeface="Calibri"/>
                <a:cs typeface="Calibri"/>
              </a:rPr>
              <a:t>Overall Score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0 to 100, with fit tier</a:t>
            </a:r>
          </a:p>
        </p:txBody>
      </p:sp>
      <p:sp>
        <p:nvSpPr>
          <p:cNvPr id="109" name="Box 109"/>
          <p:cNvSpPr/>
          <p:nvPr/>
        </p:nvSpPr>
        <p:spPr>
          <a:xfrm>
            <a:off x="7908400" y="4200000"/>
            <a:ext cx="1550000" cy="180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txBody>
          <a:bodyPr wrap="square" lIns="70000" tIns="90000" rIns="70000" bIns="6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A1A1A"/>
                </a:solidFill>
                <a:latin typeface="Calibri"/>
                <a:cs typeface="Calibri"/>
              </a:rPr>
              <a:t>Skill Gap Report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Matched, missing required, missing preferred</a:t>
            </a:r>
          </a:p>
        </p:txBody>
      </p:sp>
      <p:sp>
        <p:nvSpPr>
          <p:cNvPr id="110" name="Arrow 110"/>
          <p:cNvSpPr/>
          <p:nvPr/>
        </p:nvSpPr>
        <p:spPr>
          <a:xfrm rot="5400000">
            <a:off x="2233550" y="4045000"/>
            <a:ext cx="110000" cy="110000"/>
          </a:xfrm>
          <a:prstGeom prst="triangle">
            <a:avLst/>
          </a:prstGeom>
          <a:solidFill>
            <a:srgbClr val="A6A6A6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1" name="Arrow 111"/>
          <p:cNvSpPr/>
          <p:nvPr/>
        </p:nvSpPr>
        <p:spPr>
          <a:xfrm rot="5400000">
            <a:off x="4060650" y="4045000"/>
            <a:ext cx="110000" cy="110000"/>
          </a:xfrm>
          <a:prstGeom prst="triangle">
            <a:avLst/>
          </a:prstGeom>
          <a:solidFill>
            <a:srgbClr val="A6A6A6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2" name="Arrow 112"/>
          <p:cNvSpPr/>
          <p:nvPr/>
        </p:nvSpPr>
        <p:spPr>
          <a:xfrm rot="5400000">
            <a:off x="5887750" y="4045000"/>
            <a:ext cx="110000" cy="110000"/>
          </a:xfrm>
          <a:prstGeom prst="triangle">
            <a:avLst/>
          </a:prstGeom>
          <a:solidFill>
            <a:srgbClr val="A6A6A6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3" name="Arrow 113"/>
          <p:cNvSpPr/>
          <p:nvPr/>
        </p:nvSpPr>
        <p:spPr>
          <a:xfrm rot="5400000">
            <a:off x="7714850" y="4045000"/>
            <a:ext cx="110000" cy="110000"/>
          </a:xfrm>
          <a:prstGeom prst="triangle">
            <a:avLst/>
          </a:prstGeom>
          <a:solidFill>
            <a:srgbClr val="A6A6A6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4" name="TextBox 114"/>
          <p:cNvSpPr txBox="1"/>
          <p:nvPr/>
        </p:nvSpPr>
        <p:spPr>
          <a:xfrm>
            <a:off x="600000" y="6250000"/>
            <a:ext cx="88584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Resume and job description follow the same path; the two branches meet in the matching engine.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(MIRRA)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sp>
        <p:nvSpPr>
          <p:cNvPr id="115" name="TextBox 115"/>
          <p:cNvSpPr txBox="1"/>
          <p:nvPr/>
        </p:nvSpPr>
        <p:spPr>
          <a:xfrm>
            <a:off x="666750" y="1500000"/>
            <a:ext cx="8724900" cy="5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0"/>
              </a:spcBef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MIRRA Resume-Job Matching Dataset, stored as raw and processed CSV files.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Resumes: 10,000 records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Role, seniority, years of experience, industry, education, skills, summary and experience bullets.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Jobs: 2,500 postings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Title, seniority, industry, must-have and nice-to-have skills, description and requirements.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Ground truth: 75,000 pairs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Each of the 2,500 jobs is linked to its 30 relevant resumes (2,500 × 30).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Data quality check: 0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sp>
        <p:nvSpPr>
          <p:cNvPr id="116" name="TextBox 116"/>
          <p:cNvSpPr txBox="1"/>
          <p:nvPr/>
        </p:nvSpPr>
        <p:spPr>
          <a:xfrm>
            <a:off x="666750" y="1500000"/>
            <a:ext cx="8724900" cy="5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Text Extraction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pdfplumber and python-docx read PDF, DOCX and TXT files.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Cleaning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URLs, email headers, symbols and stray digits are removed.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Normalization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Text is converted to lowercase and common stop-words are dropped.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TF-IDF Vectorization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Clean text becomes sublinear TF-IDF vectors with 10,000 features.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Example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"Built 3 ML models in Python! jane@mail.com" becomes "built ml models python".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MATCHING ENGINE &amp; SCORING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sp>
        <p:nvSpPr>
          <p:cNvPr id="117" name="TextBox 117"/>
          <p:cNvSpPr txBox="1"/>
          <p:nvPr/>
        </p:nvSpPr>
        <p:spPr>
          <a:xfrm>
            <a:off x="666750" y="1500000"/>
            <a:ext cx="8724900" cy="5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Skill Score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(0.75 × Must-Have + 0.25 × Nice-to-Have coverage) × 100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Text Score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Cosine similarity of resume and job TF-IDF vectors × 100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Overall Score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0.55 × Skill Score + 0.45 × Text Score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Fit Tiers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dirty="0">
                <a:latin typeface="Times New Roman"/>
                <a:cs typeface="Times New Roman"/>
              </a:rPr>
              <a:t>Top Tier match </a:t>
            </a:r>
            <a:r>
              <a:rPr lang="en-US" sz="2200" b="0" dirty="0">
                <a:latin typeface="Times New Roman"/>
                <a:cs typeface="Times New Roman"/>
              </a:rPr>
              <a:t> ≥ 80% , Strong Candidate </a:t>
            </a:r>
            <a:r>
              <a:rPr lang="en-US" sz="2200" dirty="0">
                <a:latin typeface="Times New Roman"/>
                <a:cs typeface="Times New Roman"/>
              </a:rPr>
              <a:t>&gt;70</a:t>
            </a:r>
            <a:r>
              <a:rPr lang="en-US" sz="2200" b="0" dirty="0">
                <a:latin typeface="Times New Roman"/>
                <a:cs typeface="Times New Roman"/>
              </a:rPr>
              <a:t>% , Moderate Fit &lt; 50-</a:t>
            </a:r>
            <a:r>
              <a:rPr lang="en-US" sz="2200" dirty="0">
                <a:latin typeface="Times New Roman"/>
                <a:cs typeface="Times New Roman"/>
              </a:rPr>
              <a:t>69</a:t>
            </a:r>
            <a:r>
              <a:rPr lang="en-US" sz="2200" b="0" dirty="0">
                <a:latin typeface="Times New Roman"/>
                <a:cs typeface="Times New Roman"/>
              </a:rPr>
              <a:t>% Low &lt;50%.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200" b="1" dirty="0">
                <a:latin typeface="Times New Roman"/>
                <a:cs typeface="Times New Roman"/>
              </a:rPr>
              <a:t>Skill-Gap Report</a:t>
            </a:r>
            <a:br>
              <a:rPr lang="en-US" sz="2200" b="0" dirty="0">
                <a:latin typeface="Times New Roman"/>
                <a:cs typeface="Times New Roman"/>
              </a:rPr>
            </a:br>
            <a:r>
              <a:rPr lang="en-US" sz="2200" b="0" dirty="0">
                <a:latin typeface="Times New Roman"/>
                <a:cs typeface="Times New Roman"/>
              </a:rPr>
              <a:t>Lists matched skills, missing required skills and missing preferred skills.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sp>
        <p:nvSpPr>
          <p:cNvPr id="118" name="TextBox 118"/>
          <p:cNvSpPr txBox="1"/>
          <p:nvPr/>
        </p:nvSpPr>
        <p:spPr>
          <a:xfrm>
            <a:off x="666750" y="1500000"/>
            <a:ext cx="8724900" cy="5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0"/>
              </a:spcBef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Three classifiers were trained on balanced TF-IDF resume–job pairs to judge whether a resume fits a job.</a:t>
            </a:r>
          </a:p>
          <a:p>
            <a:pPr marL="342900" indent="-342900">
              <a:spcBef>
                <a:spcPts val="1600"/>
              </a:spcBef>
              <a:buFont typeface="Arial"/>
              <a:buChar char="•"/>
            </a:pPr>
            <a:r>
              <a:rPr lang="en-US" sz="2100" b="1" dirty="0">
                <a:latin typeface="Times New Roman"/>
                <a:cs typeface="Times New Roman"/>
              </a:rPr>
              <a:t>Logistic Regression (Baseline)</a:t>
            </a:r>
            <a:br>
              <a:rPr lang="en-US" sz="2100" b="0" dirty="0">
                <a:latin typeface="Times New Roman"/>
                <a:cs typeface="Times New Roman"/>
              </a:rPr>
            </a:br>
            <a:r>
              <a:rPr lang="en-US" sz="2100" b="0" dirty="0">
                <a:latin typeface="Times New Roman"/>
                <a:cs typeface="Times New Roman"/>
              </a:rPr>
              <a:t>A simple linear model that weighs each word feature and outputs a match probability. Fast and easy to interpret.</a:t>
            </a:r>
          </a:p>
          <a:p>
            <a:pPr marL="342900" indent="-342900">
              <a:spcBef>
                <a:spcPts val="1600"/>
              </a:spcBef>
              <a:buFont typeface="Arial"/>
              <a:buChar char="•"/>
            </a:pPr>
            <a:r>
              <a:rPr lang="en-US" sz="2100" b="1" dirty="0">
                <a:latin typeface="Times New Roman"/>
                <a:cs typeface="Times New Roman"/>
              </a:rPr>
              <a:t>Random Forest (Bagging)</a:t>
            </a:r>
            <a:br>
              <a:rPr lang="en-US" sz="2100" b="0" dirty="0">
                <a:latin typeface="Times New Roman"/>
                <a:cs typeface="Times New Roman"/>
              </a:rPr>
            </a:br>
            <a:r>
              <a:rPr lang="en-US" sz="2100" b="0" dirty="0">
                <a:latin typeface="Times New Roman"/>
                <a:cs typeface="Times New Roman"/>
              </a:rPr>
              <a:t>Many decision trees trained on random samples that vote together. Handles complex patterns and reduces overfitting.</a:t>
            </a:r>
          </a:p>
          <a:p>
            <a:pPr marL="342900" indent="-342900">
              <a:spcBef>
                <a:spcPts val="1600"/>
              </a:spcBef>
              <a:buFont typeface="Arial"/>
              <a:buChar char="•"/>
            </a:pPr>
            <a:r>
              <a:rPr lang="en-US" sz="2100" b="1" dirty="0">
                <a:latin typeface="Times New Roman"/>
                <a:cs typeface="Times New Roman"/>
              </a:rPr>
              <a:t>AdaBoost (Boosting)</a:t>
            </a:r>
            <a:br>
              <a:rPr lang="en-US" sz="2100" b="0" dirty="0">
                <a:latin typeface="Times New Roman"/>
                <a:cs typeface="Times New Roman"/>
              </a:rPr>
            </a:br>
            <a:r>
              <a:rPr lang="en-US" sz="2100" b="0" dirty="0">
                <a:latin typeface="Times New Roman"/>
                <a:cs typeface="Times New Roman"/>
              </a:rPr>
              <a:t>Builds weak models one after another, each focusing on the mistakes of the previous one.</a:t>
            </a:r>
          </a:p>
          <a:p>
            <a:pPr marL="342900" indent="-342900">
              <a:spcBef>
                <a:spcPts val="1600"/>
              </a:spcBef>
              <a:buFont typeface="Arial"/>
              <a:buChar char="•"/>
            </a:pPr>
            <a:r>
              <a:rPr lang="en-US" sz="2100" dirty="0">
                <a:latin typeface="Times New Roman"/>
                <a:cs typeface="Times New Roman"/>
              </a:rPr>
              <a:t>Random Forest performed best and is the selected model.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MODULES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sp>
        <p:nvSpPr>
          <p:cNvPr id="124" name="TextBox 124"/>
          <p:cNvSpPr txBox="1"/>
          <p:nvPr/>
        </p:nvSpPr>
        <p:spPr>
          <a:xfrm>
            <a:off x="666750" y="1500000"/>
            <a:ext cx="8724900" cy="5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0"/>
              </a:spcBef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Dashboard</a:t>
            </a:r>
            <a:br>
              <a:rPr lang="en-US" sz="2000" b="0" dirty="0">
                <a:latin typeface="Times New Roman"/>
                <a:cs typeface="Times New Roman"/>
              </a:rPr>
            </a:br>
            <a:r>
              <a:rPr lang="en-US" sz="2000" b="0" dirty="0">
                <a:latin typeface="Times New Roman"/>
                <a:cs typeface="Times New Roman"/>
              </a:rPr>
              <a:t>KPIs, model summary and quick job launcher.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Batch Screening</a:t>
            </a:r>
            <a:br>
              <a:rPr lang="en-US" sz="2000" b="0" dirty="0">
                <a:latin typeface="Times New Roman"/>
                <a:cs typeface="Times New Roman"/>
              </a:rPr>
            </a:br>
            <a:r>
              <a:rPr lang="en-US" sz="2000" b="0" dirty="0">
                <a:latin typeface="Times New Roman"/>
                <a:cs typeface="Times New Roman"/>
              </a:rPr>
              <a:t>Upload many resumes and rank them against one job.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1-on-1 Deep Match</a:t>
            </a:r>
            <a:br>
              <a:rPr lang="en-US" sz="2000" b="0" dirty="0">
                <a:latin typeface="Times New Roman"/>
                <a:cs typeface="Times New Roman"/>
              </a:rPr>
            </a:br>
            <a:r>
              <a:rPr lang="en-US" sz="2000" b="0" dirty="0">
                <a:latin typeface="Times New Roman"/>
                <a:cs typeface="Times New Roman"/>
              </a:rPr>
              <a:t>One resume vs one job with a 3-column skill-gap view.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Model Comparison</a:t>
            </a:r>
            <a:br>
              <a:rPr lang="en-US" sz="2000" b="0" dirty="0">
                <a:latin typeface="Times New Roman"/>
                <a:cs typeface="Times New Roman"/>
              </a:rPr>
            </a:br>
            <a:r>
              <a:rPr lang="en-US" sz="2000" b="0" dirty="0">
                <a:latin typeface="Times New Roman"/>
                <a:cs typeface="Times New Roman"/>
              </a:rPr>
              <a:t>Benchmark bar chart and sortable comparison matrix.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Pipeline Architecture</a:t>
            </a:r>
            <a:br>
              <a:rPr lang="en-US" sz="2000" b="0" dirty="0">
                <a:latin typeface="Times New Roman"/>
                <a:cs typeface="Times New Roman"/>
              </a:rPr>
            </a:br>
            <a:r>
              <a:rPr lang="en-US" sz="2000" b="0" dirty="0">
                <a:latin typeface="Times New Roman"/>
                <a:cs typeface="Times New Roman"/>
              </a:rPr>
              <a:t>Interactive flowchart with a live trace of any input.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Built with Python, Flask, scikit-learn, Pandas, pdfplumber and React + Vite.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69F6-09EC-2AA9-3AA4-99E9BB83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9C6B52C7-1C33-2767-36D1-FBD8FE34D023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3FBF757E-2BEA-DFB2-900E-865AB5B120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433D39CB-E634-6FD4-9614-7E825757CB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0BDC6F18-2E14-F27D-77BB-8E7BB3A8990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88409BF-49DC-746B-AB43-587099B7D94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16A121D-1014-1FD0-6FF2-EDD1F81BADF8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Dashboard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2D9E56B9-E847-A0C4-0123-D27B42C0D80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sp>
        <p:nvSpPr>
          <p:cNvPr id="122" name="TextBox 122">
            <a:extLst>
              <a:ext uri="{FF2B5EF4-FFF2-40B4-BE49-F238E27FC236}">
                <a16:creationId xmlns:a16="http://schemas.microsoft.com/office/drawing/2014/main" id="{D5A559A1-C233-024E-4286-B1F032427024}"/>
              </a:ext>
            </a:extLst>
          </p:cNvPr>
          <p:cNvSpPr txBox="1"/>
          <p:nvPr/>
        </p:nvSpPr>
        <p:spPr>
          <a:xfrm>
            <a:off x="666750" y="4024110"/>
            <a:ext cx="87249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</a:pPr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2797B7-A8CC-A0DE-6631-843FD7ECDD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651293"/>
            <a:ext cx="8858250" cy="446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4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CC002-EE33-15AB-6540-199732844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4DA1AD7-5E49-4E23-6AA4-883416CABCCB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EC96D0C2-4D49-39F4-2A38-3A894EA2E6B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A18BC67E-B210-855D-E3E7-3AA0D57AC4F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A544FE4-358B-F8BB-CE97-88956386C0B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0D096F9-0C1B-32A1-552B-AC43A4C71A6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DE36DBC-D2C7-E0BB-033B-64F6990BBCE9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Ranking 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BDB8E391-7D0E-A2C6-BD5D-9C1C4631C9B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sp>
        <p:nvSpPr>
          <p:cNvPr id="122" name="TextBox 122">
            <a:extLst>
              <a:ext uri="{FF2B5EF4-FFF2-40B4-BE49-F238E27FC236}">
                <a16:creationId xmlns:a16="http://schemas.microsoft.com/office/drawing/2014/main" id="{E0513CAC-8AAF-5C83-33EF-5C607477F025}"/>
              </a:ext>
            </a:extLst>
          </p:cNvPr>
          <p:cNvSpPr txBox="1"/>
          <p:nvPr/>
        </p:nvSpPr>
        <p:spPr>
          <a:xfrm>
            <a:off x="666750" y="4024110"/>
            <a:ext cx="87249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</a:pPr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B549D6-1434-3845-B02B-B2087F873F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845249"/>
            <a:ext cx="8991600" cy="408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33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BENCHMARK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pic>
        <p:nvPicPr>
          <p:cNvPr id="119" name="Picture 1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450000"/>
            <a:ext cx="8724900" cy="4192987"/>
          </a:xfrm>
          <a:prstGeom prst="rect">
            <a:avLst/>
          </a:prstGeom>
        </p:spPr>
      </p:pic>
      <p:sp>
        <p:nvSpPr>
          <p:cNvPr id="120" name="TextBox 120"/>
          <p:cNvSpPr txBox="1"/>
          <p:nvPr/>
        </p:nvSpPr>
        <p:spPr>
          <a:xfrm>
            <a:off x="666750" y="5892987"/>
            <a:ext cx="87249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Random Forest (Bagging) scores highest on Accuracy, Precision, Recall and F1-Score.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Baseline is Logistic Regression and Boosting is AdaBoost.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883931" y="344896"/>
            <a:ext cx="4479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MATRIX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337662"/>
            <a:ext cx="1163002" cy="424338"/>
          </a:xfrm>
          <a:prstGeom prst="rect">
            <a:avLst/>
          </a:prstGeom>
        </p:spPr>
      </p:pic>
      <p:pic>
        <p:nvPicPr>
          <p:cNvPr id="121" name="Picture 1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500000"/>
            <a:ext cx="8724900" cy="2174110"/>
          </a:xfrm>
          <a:prstGeom prst="rect">
            <a:avLst/>
          </a:prstGeom>
        </p:spPr>
      </p:pic>
      <p:sp>
        <p:nvSpPr>
          <p:cNvPr id="122" name="TextBox 122"/>
          <p:cNvSpPr txBox="1"/>
          <p:nvPr/>
        </p:nvSpPr>
        <p:spPr>
          <a:xfrm>
            <a:off x="666750" y="4024110"/>
            <a:ext cx="87249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Random Forest wins with 89.17% accuracy, 89.62% F1 and 93.50% recall.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Logistic Regression trains fastest (0.11 s) and is a strong baseline at 84.81% F1.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AdaBoost is the slowest (9.40 s) and has the lowest F1 (82.47%).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Tested on an 80/20 stratified split with random_state = 42.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56B54-E39A-FD4F-DE95-606174B7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25"/>
          <p:cNvSpPr txBox="1"/>
          <p:nvPr/>
        </p:nvSpPr>
        <p:spPr>
          <a:xfrm>
            <a:off x="666750" y="1500000"/>
            <a:ext cx="8724900" cy="5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MATCHIX </a:t>
            </a:r>
            <a:r>
              <a:rPr lang="en-US" sz="2400" dirty="0">
                <a:latin typeface="Times New Roman"/>
                <a:cs typeface="Times New Roman"/>
              </a:rPr>
              <a:t>combines skill matching and TF-IDF text similarity in one dual-branch engine that scores every resume and explains its skill gaps.</a:t>
            </a:r>
          </a:p>
          <a:p>
            <a:pPr marL="342900" indent="-342900">
              <a:spcBef>
                <a:spcPts val="2400"/>
              </a:spcBef>
              <a:buFont typeface="Arial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Random Forest was the best of three classifiers, reaching 89.17% accuracy and 89.62% F1 on the MIRRA dataset.</a:t>
            </a:r>
          </a:p>
          <a:p>
            <a:pPr marL="342900" indent="-342900">
              <a:spcBef>
                <a:spcPts val="2400"/>
              </a:spcBef>
              <a:buFont typeface="Arial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The web app supports batch screening and 1-on-1 matching.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89F875DA-01B7-7B66-8631-DB680A4FF6CA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D9BA4278-90EE-F4EF-6861-AF6142C31D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99A88681-D489-85E9-AA9F-29A6215B7ED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D0A13805-618B-33D6-470F-F3DFA18107C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AEA1AF40-E878-4D20-DD24-6B4FF8AC15E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9B9A9C3-B9D7-AA73-AA50-BC9DFF3638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0" y="431812"/>
            <a:ext cx="3247073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D34C6712-3CB3-E89F-D9BB-C26F38F6ADA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2E6079C-A3C0-3774-BD26-183AA6462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729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2215991"/>
          </a:xfrm>
        </p:spPr>
        <p:txBody>
          <a:bodyPr/>
          <a:lstStyle/>
          <a:p>
            <a:r>
              <a:rPr lang="en-IN" sz="4800" dirty="0">
                <a:solidFill>
                  <a:srgbClr val="7030A0"/>
                </a:solidFill>
              </a:rPr>
              <a:t>THANK YOU</a:t>
            </a:r>
            <a:br>
              <a:rPr lang="en-IN" sz="4800" dirty="0">
                <a:solidFill>
                  <a:srgbClr val="7030A0"/>
                </a:solidFill>
              </a:rPr>
            </a:br>
            <a:br>
              <a:rPr lang="en-IN" sz="4800" dirty="0">
                <a:solidFill>
                  <a:srgbClr val="7030A0"/>
                </a:solidFill>
              </a:rPr>
            </a:br>
            <a:r>
              <a:rPr lang="en-IN" sz="4800" dirty="0">
                <a:solidFill>
                  <a:srgbClr val="7030A0"/>
                </a:solidFill>
              </a:rPr>
              <a:t>    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3965</TotalTime>
  <Words>919</Words>
  <Application>Microsoft Office PowerPoint</Application>
  <PresentationFormat>Custom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Palatino Linotype</vt:lpstr>
      <vt:lpstr>Times New Roman</vt:lpstr>
      <vt:lpstr>Office Theme</vt:lpstr>
      <vt:lpstr>Machine Learning Project REVIEW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CONCLUSION</vt:lpstr>
      <vt:lpstr>THANK YOU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Madhu Kiran</cp:lastModifiedBy>
  <cp:revision>87</cp:revision>
  <cp:lastPrinted>2025-10-14T18:21:49Z</cp:lastPrinted>
  <dcterms:created xsi:type="dcterms:W3CDTF">2025-10-10T08:28:06Z</dcterms:created>
  <dcterms:modified xsi:type="dcterms:W3CDTF">2026-10-25T12:48:28Z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